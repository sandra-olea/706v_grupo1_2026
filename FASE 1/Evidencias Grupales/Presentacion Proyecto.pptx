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0RH+ONST19d50EIfKj5fs0tL6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8B66F9-FFDA-4068-A995-9266B63E0B44}">
  <a:tblStyle styleId="{4A8B66F9-FFDA-4068-A995-9266B63E0B4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3ed02382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f3ed02382b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3e8b4392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f3e8b43924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3ed02382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3ed02382b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hyperlink" Target="https://stitch.withgoogle.com/projects/6072598846860294899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7500"/>
              <a:buFont typeface="Calibri"/>
              <a:buNone/>
            </a:pPr>
            <a:r>
              <a:rPr lang="es-CL"/>
              <a:t>Presentación Portafolio Título</a:t>
            </a:r>
            <a:br>
              <a:rPr lang="es-CL"/>
            </a:br>
            <a:r>
              <a:rPr lang="es-CL" sz="3200"/>
              <a:t>“</a:t>
            </a:r>
            <a:r>
              <a:rPr b="1" lang="es-CL" sz="3200"/>
              <a:t>VAYO </a:t>
            </a:r>
            <a:r>
              <a:rPr lang="es-CL" sz="3200"/>
              <a:t>-</a:t>
            </a:r>
            <a:r>
              <a:rPr i="1" lang="es-CL" sz="3150"/>
              <a:t>Tu itinerario inteligente de viaje</a:t>
            </a:r>
            <a:r>
              <a:rPr lang="es-CL" sz="3200"/>
              <a:t>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5" y="1055300"/>
            <a:ext cx="7335600" cy="5693592"/>
            <a:chOff x="0" y="0"/>
            <a:chExt cx="7335600" cy="3415882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3356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0" y="0"/>
              <a:ext cx="58725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s-CL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Daniel Santelices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240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Char char="•"/>
              </a:pPr>
              <a:r>
                <a:rPr b="1" i="0" lang="es-CL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Tech Lead</a:t>
              </a:r>
              <a:endParaRPr b="1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460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Char char="•"/>
              </a:pPr>
              <a:r>
                <a:rPr b="1" i="0" lang="es-CL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</a:t>
              </a:r>
              <a:r>
                <a:rPr b="0" i="0" lang="es-CL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s-CL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Liderazgo técnico en la planificación y coordinación del proyecto, garantizando la gestión de tiempos y entregables. Responsable de la arquitectura y desarrollo backend, abarcando lógica de negocio, diseño de APIs, gestión de bases de datos, implementación de estándares de seguridad e integración con servicios externos.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1"/>
              <a:ext cx="73356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DBD4EB"/>
                </a:gs>
                <a:gs pos="100000">
                  <a:srgbClr val="9080BB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0" y="1174241"/>
              <a:ext cx="58725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s-CL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Camila Rumino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460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Char char="•"/>
              </a:pPr>
              <a:r>
                <a:rPr b="1" i="0" lang="es-CL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Project Manager &amp; QA Mobile</a:t>
              </a:r>
              <a:endParaRPr b="1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460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Char char="•"/>
              </a:pPr>
              <a:r>
                <a:rPr b="1" i="0" lang="es-CL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Funciones desempeñadas: </a:t>
              </a:r>
              <a:r>
                <a:rPr b="0" i="0" lang="es-CL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Responsable de la comunicación con el cliente para el levantamiento de requerimientos y la redacción de la documentación. En la etapa de desarrollo, encargada de la validación de la aplicación móvil, realizando pruebas funcionales, reporte de incidencias y verificación de errores. 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348482"/>
              <a:ext cx="73356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06749" y="2455236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462950" y="2348482"/>
              <a:ext cx="58725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s-CL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Gabriela Barraza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5240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Char char="•"/>
              </a:pPr>
              <a:r>
                <a:rPr b="1" i="0" lang="es-CL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Lead UX/UI &amp; QA</a:t>
              </a:r>
              <a:endParaRPr b="1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240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Char char="•"/>
              </a:pPr>
              <a:r>
                <a:rPr b="1" i="0" lang="es-CL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</a:t>
              </a:r>
              <a:r>
                <a:rPr b="0" i="0" lang="es-CL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Responsable de la toma de decisiones gráficas de la aplicación, análisis de necesidades y diseño de la experiencia de usuario. A cargo de la creación de prototipos, definición de la navegación y la ejecución de pruebas de calidad (QA) para validar la correcta implementación visual y funcional.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6912050" y="2177325"/>
            <a:ext cx="4641300" cy="40926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14900" y="2177325"/>
            <a:ext cx="4427400" cy="40926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714909" y="2169769"/>
            <a:ext cx="4427400" cy="4092600"/>
          </a:xfrm>
          <a:prstGeom prst="roundRect">
            <a:avLst>
              <a:gd fmla="val 10901" name="adj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Actualmente, la planificación de un viaje requiere utilizar múltiples aplicaciones y páginas web para gestionar diferentes aspectos del viaje.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usuario debe consultar por separado información sobre alojamientos, restaurantes, actividades turísticas, transporte, mapas, reservas y gastos. Esta fragmentación dificulta mantener una visión completa del viaje y aumenta el tiempo necesario para organizarlo.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Además, durante el viaje puede existir poca o nula conectividad a Internet, dificultando el acceso a información previamente planificada.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móvil que permita al usuario planificar, organizar y administrar integralmente su viaje desde una única plataforma. La solución integrará: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de itinerarios.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Calendario de actividades.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Mapa de lugares y recorridos.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alojamientos.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Restaurantes y lugares de interés.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Actividades turísticas.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de transporte.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presupuesto y gastos.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Inteligencia artificial para recomendaciones.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Almacenamiento local.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Sincronización con la nube.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móvil que permita centralizar y facilitar la planificación y gestión de viajes, integrando itinerarios, actividades, alojamientos, transporte, mapas, gastos e inteligencia artificial, con disponibilidad de información offline y sincronización con la nube.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14525" y="4732400"/>
            <a:ext cx="5427000" cy="1843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una aplicación móvil intuitiva que permita crear y administrar viajes.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sistema de planificación de itinerarios mediante calendario y horarios.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mapas para visualizar lugares planificados y recorridos realizados.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módulo para registrar y categorizar los gastos del viaje.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 rot="-190">
            <a:off x="6150475" y="4732411"/>
            <a:ext cx="5427000" cy="184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 startAt="5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una herramienta de inteligencia artificial para generar y sugerir itinerarios personalizados.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 startAt="5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información relacionada con alojamientos, restaurantes, actividades, transporte y lugares de interés.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 startAt="5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almacenamiento local para permitir el acceso a información previamente guardada sin conexión.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 startAt="5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sincronización con servicios en la nube para mantener actualizada la información del usuario.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6314525" y="1695000"/>
            <a:ext cx="5170200" cy="42060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14375" y="1695000"/>
            <a:ext cx="5170200" cy="42060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914375" y="1775850"/>
            <a:ext cx="5170200" cy="4125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crear y administrar viajes.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establecer fechas de inicio y término.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crear itinerarios diarios.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agregar actividades y lugares de interés.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registrar alojamientos.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registrar restaurantes.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registrar tiendas, supermercados y lugares turísticos.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organizar actividades mediante calendario.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visualizar lugares mediante mapas.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registrar recorridos realizados.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establecer un presupuesto.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registrar gastos.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categorizar gastos.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consultar el presupuesto disponible.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recibir sugerencias de itinerarios mediante 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almacenar información localmente.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sincronizar información con la nube cuando exista conexión.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6314525" y="1776000"/>
            <a:ext cx="51702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realiza directamente reservas de hoteles.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realiza pagos dentro de la aplicación.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compra pasajes ni tickets.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reemplaza las plataformas oficiales de reservas.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garantiza la disponibilidad de alojamientos, restaurantes o actividades.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funciona como agencia de viajes.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garantiza que las recomendaciones de IA sean siempre óptimas.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permite utilizar todas sus funcionalidades sin conexión a Internet.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funciones que requieren información externa estarán limitadas cuando no exista conectividad.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841425" y="1807025"/>
            <a:ext cx="10365600" cy="44487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39475" y="1806950"/>
            <a:ext cx="10365600" cy="444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El Planificador Meticuloso (Heavy User)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Perfil: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 viajes largos y complejos con meses de anticipación. Necesita centralizar absolutamente todo para reducir la incertidumbre.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Uso del sistema: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Exprime al máximo el calendario por franjas horarias, el presupuesto al detalle y el modo offline.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Caso de uso: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Estructurar un itinerario de 30 días por Japón, organizando la logística desde Santiago a Tokio, mapeando rutas hacia Kioto u Osaka, y guardando las coordenadas exactas de puntos de interés muy específicos (como la estatua de Gundam o tiendas de figuras) para acceder a ellos sin depender del roaming.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El Viajero Espontáneo (Casual User)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Perfil: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Viaja con una idea general, pero prefiere decidir su día a día sobre la marcha.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Uso del sistema: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 interacción es más reactiva. Entrará a la aplicación principalmente para usar el motor de Inteligencia Artificial ("¿Qué puedo hacer hoy cerca de aquí?"), buscar restaurantes cercanos en el mapa y anotar gastos gruesos sin tanto nivel de categorización.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El Viajero Frecuente / Corporativo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Perfil: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Realiza viajes de manera constante, ya sea por trabajo o escapadas cortas.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Uso del sistema: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Valora la rapidez. Utilizará mucho la función de adjuntar documentos (vouchers, tickets de tren) para tenerlos a mano, y dependerá fuertemente de la exportación en PDF de los gastos para sus rendiciones de cuentas al final del viaje.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3ed02382b_0_43"/>
          <p:cNvSpPr/>
          <p:nvPr/>
        </p:nvSpPr>
        <p:spPr>
          <a:xfrm>
            <a:off x="525125" y="1444550"/>
            <a:ext cx="3561000" cy="25869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3ed02382b_0_43"/>
          <p:cNvSpPr txBox="1"/>
          <p:nvPr>
            <p:ph type="title"/>
          </p:nvPr>
        </p:nvSpPr>
        <p:spPr>
          <a:xfrm>
            <a:off x="838191" y="691842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 </a:t>
            </a:r>
            <a:endParaRPr/>
          </a:p>
        </p:txBody>
      </p:sp>
      <p:sp>
        <p:nvSpPr>
          <p:cNvPr id="142" name="Google Shape;142;g3f3ed02382b_0_43"/>
          <p:cNvSpPr/>
          <p:nvPr/>
        </p:nvSpPr>
        <p:spPr>
          <a:xfrm>
            <a:off x="525125" y="1444550"/>
            <a:ext cx="3561000" cy="242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Cuentas y Gestión de Viajes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RF01: </a:t>
            </a: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debe permitir el registro y autenticación de usuarios mediante correo electrónico y proveedores de identidad OAuth.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RF02:</a:t>
            </a: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sistema debe permitir crear, editar y eliminar viajes, registrando destino y rango de fechas.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RF03:</a:t>
            </a: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sistema debe estructurar itinerarios desglosados por días y franjas horarias, permitiendo ordenar actividades, alojamientos y restaurantes.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3ed02382b_0_43"/>
          <p:cNvSpPr/>
          <p:nvPr/>
        </p:nvSpPr>
        <p:spPr>
          <a:xfrm>
            <a:off x="8126225" y="1444550"/>
            <a:ext cx="3561000" cy="25869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3ed02382b_0_43"/>
          <p:cNvSpPr/>
          <p:nvPr/>
        </p:nvSpPr>
        <p:spPr>
          <a:xfrm>
            <a:off x="4315500" y="1444550"/>
            <a:ext cx="3561000" cy="25869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f3ed02382b_0_43"/>
          <p:cNvSpPr/>
          <p:nvPr/>
        </p:nvSpPr>
        <p:spPr>
          <a:xfrm>
            <a:off x="4310700" y="1444550"/>
            <a:ext cx="3561000" cy="242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Mapas y Modo Offline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RF04:</a:t>
            </a: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sistema debe visualizar rutas y lugares en un mapa interactivo, permitiendo la descarga en caché de cuadrículas (map tiles) para su funcionamiento sin conexión.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RF05:</a:t>
            </a: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sistema debe almacenar los datos del viaje localmente y sincronizarlos con la nube al detectar conexión, resolviendo conflictos al priorizar siempre la edición local más reciente.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f3ed02382b_0_43"/>
          <p:cNvSpPr/>
          <p:nvPr/>
        </p:nvSpPr>
        <p:spPr>
          <a:xfrm>
            <a:off x="8126225" y="1444700"/>
            <a:ext cx="3561000" cy="242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Multimedia y Documentos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RF06:</a:t>
            </a: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sistema debe permitir capturar o adjuntar fotos, asociándolas a lugares específicos para generar una bitácora cronológica.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RF07:</a:t>
            </a: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sistema debe permitir adjuntar boletos digitales y generar la exportación del plan completo del viaje en formato PDF para compartirlo externamente.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3ed02382b_0_43"/>
          <p:cNvSpPr/>
          <p:nvPr/>
        </p:nvSpPr>
        <p:spPr>
          <a:xfrm>
            <a:off x="3827250" y="4184850"/>
            <a:ext cx="4528800" cy="25869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3ed02382b_0_43"/>
          <p:cNvSpPr/>
          <p:nvPr/>
        </p:nvSpPr>
        <p:spPr>
          <a:xfrm>
            <a:off x="3827100" y="4184850"/>
            <a:ext cx="4528800" cy="258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Presupuesto y Alertas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RF08: </a:t>
            </a: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debe gestionar presupuestos y categorizar gastos, incorporando conversión automática de divisas extranjeras a la moneda base del viaje.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RF09: </a:t>
            </a: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debe programar alarmas y enviar notificaciones locales previas a cada actividad programada, operando de manera independiente a la conectividad de red.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RF10:</a:t>
            </a: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sistema incluirá una herramienta de Inteligencia Artificial para generar y sugerir itinerarios personalizados.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3e8b43924_0_5"/>
          <p:cNvSpPr/>
          <p:nvPr/>
        </p:nvSpPr>
        <p:spPr>
          <a:xfrm>
            <a:off x="737000" y="2013300"/>
            <a:ext cx="10365600" cy="27162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lin ang="5400012" scaled="0"/>
          </a:gra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3e8b43924_0_5"/>
          <p:cNvSpPr txBox="1"/>
          <p:nvPr>
            <p:ph type="title"/>
          </p:nvPr>
        </p:nvSpPr>
        <p:spPr>
          <a:xfrm>
            <a:off x="838191" y="691842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 </a:t>
            </a:r>
            <a:endParaRPr/>
          </a:p>
        </p:txBody>
      </p:sp>
      <p:sp>
        <p:nvSpPr>
          <p:cNvPr id="155" name="Google Shape;155;g3f3e8b43924_0_5"/>
          <p:cNvSpPr/>
          <p:nvPr/>
        </p:nvSpPr>
        <p:spPr>
          <a:xfrm>
            <a:off x="737000" y="2013300"/>
            <a:ext cx="10365600" cy="2716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RNF01 (Usabilidad): 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aplicación debe contar con una interfaz intuitiva, con diseño responsivo y fácil de operar con una sola mano.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RNF02 (Seguridad):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información, comprobantes y credenciales deben cifrarse en tránsito (HTTPS) y en reposo.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RNF03 (Eficiencia Energética): 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uso de geolocalización en segundo plano y los procesos de sincronización deben optimizarse para minimizar el impacto en la batería del dispositivo móvil.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RNF04 (Gestión de Almacenamiento): 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archivos adjuntos y fotografías deben comprimirse automáticamente antes de guardarse localmente, respetando un límite de caché predefinido para no saturar el dispositivo.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RNF05 (Rendimiento):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Los tiempos de renderizado y carga de vistas no deben exceder los 3 segundos. Esta métrica excluye explícitamente las peticiones al motor de IA, las cuales contarán con un timeout independiente.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RNF06 (Arquitectura y Escalabilidad):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backend debe diseñarse de forma modular. Para asegurar el rendimiento en la sincronización y la integración futura de la IA, los servicios se desplegarán utilizando Python de manera exclusiva sobre Cloud Run.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pic>
        <p:nvPicPr>
          <p:cNvPr id="161" name="Google Shape;161;p8" title="scree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98" y="1758950"/>
            <a:ext cx="1724158" cy="500964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 txBox="1"/>
          <p:nvPr/>
        </p:nvSpPr>
        <p:spPr>
          <a:xfrm>
            <a:off x="4100425" y="3228900"/>
            <a:ext cx="542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https://stitch.withgoogle.com/projects/6072598846860294899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68" name="Google Shape;168;p10"/>
          <p:cNvGraphicFramePr/>
          <p:nvPr/>
        </p:nvGraphicFramePr>
        <p:xfrm>
          <a:off x="2333396" y="18806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{4A8B66F9-FFDA-4068-A995-9266B63E0B44}</a:tableStyleId>
              </a:tblPr>
              <a:tblGrid>
                <a:gridCol w="3217850"/>
                <a:gridCol w="43073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Nombre Fase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Fechas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C9DAF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Inicio del proyecto - Presentación inicial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10/08/</a:t>
                      </a:r>
                      <a:r>
                        <a:rPr lang="es-CL" sz="1400" u="none" cap="none" strike="noStrike"/>
                        <a:t>2026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6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Organización del equipo y roles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13/08/</a:t>
                      </a:r>
                      <a:r>
                        <a:rPr lang="es-CL" sz="1400" u="none" cap="none" strike="noStrike"/>
                        <a:t>2026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Acta de constitución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17/08/</a:t>
                      </a:r>
                      <a:r>
                        <a:rPr lang="es-CL" sz="1400" u="none" cap="none" strike="noStrike"/>
                        <a:t>2026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Aprobación del Acta de constitución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20/08/2026</a:t>
                      </a:r>
                      <a:endParaRPr/>
                    </a:p>
                  </a:txBody>
                  <a:tcPr marT="0" marB="0" marR="68575" marL="68575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/>
                        <a:t>Análisis y Diseño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28/08/</a:t>
                      </a:r>
                      <a:r>
                        <a:rPr lang="es-CL" sz="1400" u="none" cap="none" strike="noStrike"/>
                        <a:t>2026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Desarrollo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29/09/</a:t>
                      </a:r>
                      <a:r>
                        <a:rPr lang="es-CL" sz="1400" u="none" cap="none" strike="noStrike"/>
                        <a:t>2026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400" u="none" cap="none" strike="noStrike"/>
                        <a:t>Pruebas y </a:t>
                      </a:r>
                      <a:r>
                        <a:rPr lang="es-CL"/>
                        <a:t>QA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16/11/2</a:t>
                      </a:r>
                      <a:r>
                        <a:rPr lang="es-CL" sz="1400" u="none" cap="none" strike="noStrike"/>
                        <a:t>026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Implementación y Cierre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30/11/</a:t>
                      </a:r>
                      <a:r>
                        <a:rPr lang="es-CL" sz="1400" u="none" cap="none" strike="noStrike"/>
                        <a:t>2026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Manual de usuario y capacitación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02/12/</a:t>
                      </a:r>
                      <a:r>
                        <a:rPr lang="es-CL" sz="1400" u="none" cap="none" strike="noStrike"/>
                        <a:t>2026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Verificación de alcance y cambios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04/12/2026</a:t>
                      </a:r>
                      <a:endParaRPr sz="1400" u="none" cap="none" strike="noStrike"/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Término del </a:t>
                      </a:r>
                      <a:r>
                        <a:rPr lang="es-CL"/>
                        <a:t>proyecto</a:t>
                      </a:r>
                      <a:r>
                        <a:rPr lang="es-CL"/>
                        <a:t> / Presentación final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07/12/2026</a:t>
                      </a:r>
                      <a:endParaRPr sz="1400" u="none" cap="none" strike="noStrike"/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>
            <p:ph type="title"/>
          </p:nvPr>
        </p:nvSpPr>
        <p:spPr>
          <a:xfrm>
            <a:off x="570350" y="901600"/>
            <a:ext cx="112092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Costos por Fase: </a:t>
            </a:r>
            <a:endParaRPr sz="4733"/>
          </a:p>
        </p:txBody>
      </p:sp>
      <p:graphicFrame>
        <p:nvGraphicFramePr>
          <p:cNvPr id="174" name="Google Shape;174;p11"/>
          <p:cNvGraphicFramePr/>
          <p:nvPr/>
        </p:nvGraphicFramePr>
        <p:xfrm>
          <a:off x="2333384" y="22658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{4A8B66F9-FFDA-4068-A995-9266B63E0B44}</a:tableStyleId>
              </a:tblPr>
              <a:tblGrid>
                <a:gridCol w="3217850"/>
                <a:gridCol w="43073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Fase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/>
                        <a:t>Costo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C9DAF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Planificación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400" u="none" cap="none" strike="noStrike"/>
                        <a:t>$</a:t>
                      </a:r>
                      <a:r>
                        <a:rPr lang="es-CL"/>
                        <a:t>337.000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6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Análisis y Diseño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400" u="none" cap="none" strike="noStrike"/>
                        <a:t>$</a:t>
                      </a:r>
                      <a:r>
                        <a:rPr lang="es-CL"/>
                        <a:t>438.000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400" u="none" cap="none" strike="noStrike"/>
                        <a:t>Desarrollo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400" u="none" cap="none" strike="noStrike"/>
                        <a:t>$</a:t>
                      </a:r>
                      <a:r>
                        <a:rPr lang="es-CL"/>
                        <a:t>2.882.000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Pruebas y QA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400" u="none" cap="none" strike="noStrike"/>
                        <a:t>$</a:t>
                      </a:r>
                      <a:r>
                        <a:rPr lang="es-CL"/>
                        <a:t>334</a:t>
                      </a:r>
                      <a:r>
                        <a:rPr lang="es-CL" sz="1400" u="none" cap="none" strike="noStrike"/>
                        <a:t>.000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/>
                        <a:t>Implementación y Cierre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400" u="none" cap="none" strike="noStrike"/>
                        <a:t>$2</a:t>
                      </a:r>
                      <a:r>
                        <a:rPr lang="es-CL"/>
                        <a:t>29</a:t>
                      </a:r>
                      <a:r>
                        <a:rPr lang="es-CL" sz="1400" u="none" cap="none" strike="noStrike"/>
                        <a:t>.000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400" u="none" cap="none" strike="noStrike"/>
                        <a:t>Total</a:t>
                      </a:r>
                      <a:endParaRPr b="1"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1400" u="none" cap="none" strike="noStrike"/>
                        <a:t>$</a:t>
                      </a:r>
                      <a:r>
                        <a:rPr b="1" lang="es-CL"/>
                        <a:t>4.22</a:t>
                      </a:r>
                      <a:r>
                        <a:rPr b="1" lang="es-CL" sz="1400" u="none" cap="none" strike="noStrike"/>
                        <a:t>0.000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3ed02382b_0_61"/>
          <p:cNvSpPr/>
          <p:nvPr/>
        </p:nvSpPr>
        <p:spPr>
          <a:xfrm>
            <a:off x="357725" y="1716500"/>
            <a:ext cx="5644500" cy="18729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lin ang="5400012" scaled="0"/>
          </a:gra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3ed02382b_0_61"/>
          <p:cNvSpPr txBox="1"/>
          <p:nvPr>
            <p:ph type="title"/>
          </p:nvPr>
        </p:nvSpPr>
        <p:spPr>
          <a:xfrm>
            <a:off x="525125" y="667101"/>
            <a:ext cx="105156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5789"/>
              <a:buFont typeface="Calibri"/>
              <a:buNone/>
            </a:pPr>
            <a:r>
              <a:rPr lang="es-CL" sz="3800"/>
              <a:t>Tecnologías del Desarrollo</a:t>
            </a:r>
            <a:endParaRPr sz="3800"/>
          </a:p>
        </p:txBody>
      </p:sp>
      <p:sp>
        <p:nvSpPr>
          <p:cNvPr id="181" name="Google Shape;181;g3f3ed02382b_0_61"/>
          <p:cNvSpPr/>
          <p:nvPr/>
        </p:nvSpPr>
        <p:spPr>
          <a:xfrm>
            <a:off x="357875" y="1716500"/>
            <a:ext cx="5587500" cy="1743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React Native (0.86.2) &amp; React 19 (19.2.3):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Framework principal multiplataforma con la nueva arquitectura nativa para lograr interfaces fluidas y de alto rendimiento.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 SDK 57 (57.0.14):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Ecosistema de desarrollo que gestiona la compilación de la app y el acceso a los módulos del dispositivo.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TypeScript (~6.0.3):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Lenguaje base para asegurar el tipado estricto y evitar errores de lógica en la aplicación.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 Router (~57.0.14):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Sistema de navegación moderno e intuitivo basado en la estructura de archivos del proyecto.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3ed02382b_0_61"/>
          <p:cNvSpPr txBox="1"/>
          <p:nvPr/>
        </p:nvSpPr>
        <p:spPr>
          <a:xfrm>
            <a:off x="357725" y="1127000"/>
            <a:ext cx="54201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CL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📱 Core Móvil y Frontend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3ed02382b_0_61"/>
          <p:cNvSpPr/>
          <p:nvPr/>
        </p:nvSpPr>
        <p:spPr>
          <a:xfrm>
            <a:off x="6169775" y="1716500"/>
            <a:ext cx="5644500" cy="18729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f3ed02382b_0_61"/>
          <p:cNvSpPr/>
          <p:nvPr/>
        </p:nvSpPr>
        <p:spPr>
          <a:xfrm>
            <a:off x="6169775" y="1745300"/>
            <a:ext cx="5644500" cy="163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 SQLite (~57.0.1):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Base de datos relacional embebida dentro del teléfono. Asume el rol de backend, almacenando toda la estructura de viajes e itinerarios localmente.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AsyncStorage (2.2.0):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Memoria caché rápida para mantener preferencias del usuario, configuraciones visuales y las API Keys de manera persistente.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Lógica en Contextos: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Uso de la API nativa de React (</a:t>
            </a:r>
            <a:r>
              <a:rPr b="0" i="1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y </a:t>
            </a:r>
            <a:r>
              <a:rPr b="0" i="1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 Hooks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gestionar las reglas de negocio directamente en el cliente.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f3ed02382b_0_61"/>
          <p:cNvSpPr txBox="1"/>
          <p:nvPr/>
        </p:nvSpPr>
        <p:spPr>
          <a:xfrm>
            <a:off x="6002225" y="1127000"/>
            <a:ext cx="61899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CL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💾 Arquitectura 100% Local (El "Backend" Interno)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3ed02382b_0_61"/>
          <p:cNvSpPr/>
          <p:nvPr/>
        </p:nvSpPr>
        <p:spPr>
          <a:xfrm>
            <a:off x="357725" y="4347600"/>
            <a:ext cx="5644500" cy="16392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f3ed02382b_0_61"/>
          <p:cNvSpPr/>
          <p:nvPr/>
        </p:nvSpPr>
        <p:spPr>
          <a:xfrm>
            <a:off x="386075" y="4347600"/>
            <a:ext cx="5587500" cy="153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React Native Maps (1.27.2):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Motor de renderizado integrado (basado en Google Maps SDK) para visualizar rutas e interactuar de forma táctil.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Places Web API: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Consumo directo desde la aplicación para buscar locales, fotos, valoraciones y horarios actualizados.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Sensores Nativos (Expo Location ~57.0.11):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Integración con el GPS del dispositivo para calcular distancias dinámicas y ubicar al usuario en tiempo real.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f3ed02382b_0_61"/>
          <p:cNvSpPr txBox="1"/>
          <p:nvPr/>
        </p:nvSpPr>
        <p:spPr>
          <a:xfrm>
            <a:off x="357725" y="3812163"/>
            <a:ext cx="5420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CL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🗺️ Mapas y Exploración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3ed02382b_0_61"/>
          <p:cNvSpPr/>
          <p:nvPr/>
        </p:nvSpPr>
        <p:spPr>
          <a:xfrm>
            <a:off x="6198275" y="4347600"/>
            <a:ext cx="5587500" cy="16392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f3ed02382b_0_61"/>
          <p:cNvSpPr/>
          <p:nvPr/>
        </p:nvSpPr>
        <p:spPr>
          <a:xfrm>
            <a:off x="6198275" y="4383800"/>
            <a:ext cx="5587500" cy="153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Gemini SDK (^0.24.1):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Conexión directa desde la app móvil hacia el motor de IA para generar sugerencias e itinerarios personalizados.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Animaciones y Diseño: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React Native Reanimated (4.5.1)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fluidez gráfica y </a:t>
            </a:r>
            <a:r>
              <a:rPr b="0" i="1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 Blur (~57.0.2)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efectos visuales modernos.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Alertas Offline (Expo Notifications ~57.0.12):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programar alarmas y recordatorios de itinerario que se disparan internamente, sin necesidad de conexión.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3ed02382b_0_61"/>
          <p:cNvSpPr txBox="1"/>
          <p:nvPr/>
        </p:nvSpPr>
        <p:spPr>
          <a:xfrm>
            <a:off x="6082025" y="3794300"/>
            <a:ext cx="5587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CL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🤖 Inteligencia Artificial e Interfaz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aplicación busca resolver una problemática común en la planificación de viajes: la necesidad de utilizar múltiples plataformas para organizar diferentes aspectos de una misma experiencia.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propuesta centraliza itinerarios, actividades, alojamientos, restaurantes, transporte, mapas y control de gastos en una sola aplicación móvil. Además, incorpora inteligencia artificial para entregar recomendaciones personalizadas y almacenamiento local para mantener disponible información previamente planificada cuando no exista conexión a Internet.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permitirá aplicar conocimientos de desarrollo de aplicaciones, bases de datos, servicios en la nube, inteligencia artificial, geolocalización y experiencia de usuario, generando una solución que puede ser validada a partir de una necesidad real de viaje y posteriormente ampliada con nuevas funcionalidades.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